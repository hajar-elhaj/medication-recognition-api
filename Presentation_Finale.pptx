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182880"/>
            <a:ext cx="1097280" cy="109728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MOHAMMED V UNIVERSITY  •  FACULTY OF SCIENCES, RABAT  •  MASTER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Medication Box</a:t>
            </a:r>
          </a:p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2D3EE"/>
                </a:solidFill>
                <a:latin typeface="Calibri"/>
              </a:rPr>
              <a:t>Recognition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Calibri"/>
              </a:rPr>
              <a:t>Medicine recognition through Computer Vision &amp; multilingual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Authors: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Hajar El Haj</a:t>
            </a:r>
            <a:r>
              <a:rPr sz="1500" b="0" i="0">
                <a:solidFill>
                  <a:srgbClr val="94A3B8"/>
                </a:solidFill>
                <a:latin typeface="Calibri"/>
              </a:rPr>
              <a:t>   &amp;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Ikram Belmalhouz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Supervisor: </a:t>
            </a:r>
            <a:r>
              <a:rPr sz="1500" b="1" i="0">
                <a:solidFill>
                  <a:srgbClr val="22D3EE"/>
                </a:solidFill>
                <a:latin typeface="Calibri"/>
              </a:rPr>
              <a:t>Pr. Abdelhak Mahmoudi</a:t>
            </a:r>
            <a:r>
              <a:rPr sz="1500" b="0" i="0">
                <a:solidFill>
                  <a:srgbClr val="94A3B8"/>
                </a:solidFill>
                <a:latin typeface="Calibri"/>
              </a:rPr>
              <a:t>   •   Co-supervisor: </a:t>
            </a:r>
            <a:r>
              <a:rPr sz="1500" b="1" i="0">
                <a:solidFill>
                  <a:srgbClr val="22D3EE"/>
                </a:solidFill>
                <a:latin typeface="Calibri"/>
              </a:rPr>
              <a:t>Saad Frihi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15600" cy="5852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1577340"/>
            <a:ext cx="448056" cy="4480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77340"/>
            <a:ext cx="448056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508760"/>
            <a:ext cx="47548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Introduction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08760"/>
            <a:ext cx="5120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Problem statement and project goals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03704"/>
            <a:ext cx="10515600" cy="5852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2272284"/>
            <a:ext cx="448056" cy="4480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272284"/>
            <a:ext cx="448056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203704"/>
            <a:ext cx="47548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203704"/>
            <a:ext cx="5120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Comparison of OCR tools and recognition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98648"/>
            <a:ext cx="10515600" cy="5852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967228"/>
            <a:ext cx="448056" cy="4480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967228"/>
            <a:ext cx="448056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98648"/>
            <a:ext cx="47548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Architecture &amp;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5120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From the image to the bilingual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93592"/>
            <a:ext cx="10515600" cy="5852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" y="3662172"/>
            <a:ext cx="448056" cy="4480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662172"/>
            <a:ext cx="448056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593592"/>
            <a:ext cx="47548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93592"/>
            <a:ext cx="5120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OCR, adaptive OpenCV, reference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288536"/>
            <a:ext cx="10515600" cy="5852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" y="4357116"/>
            <a:ext cx="448056" cy="4480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357116"/>
            <a:ext cx="448056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288536"/>
            <a:ext cx="47548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API &amp; Web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288536"/>
            <a:ext cx="5120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REST service and user interface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983480"/>
            <a:ext cx="10515600" cy="5852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" y="5052060"/>
            <a:ext cx="448056" cy="4480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052060"/>
            <a:ext cx="448056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983480"/>
            <a:ext cx="47548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Evaluation &amp;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983480"/>
            <a:ext cx="5120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Testing, metrics and limitations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678424"/>
            <a:ext cx="10515600" cy="5852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4128" y="5747004"/>
            <a:ext cx="448056" cy="4480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747004"/>
            <a:ext cx="448056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5678424"/>
            <a:ext cx="47548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678424"/>
            <a:ext cx="5120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Achievements and future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01 —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Context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Identifying a medicine from a photo of its box is highly useful in digital-health applications: patient assistance, pharmacies, stock control.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22D3EE"/>
                </a:solidFill>
                <a:latin typeface="Calibri"/>
              </a:rPr>
              <a:t>But it is a hard problem under real-world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56832" y="1673352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2" y="16733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517904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Visual similarity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Boxes that look alike (same color, shape)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78608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6832" y="2880360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88036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72491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Image quality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Blur, poor lighting, skewed photos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85616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56832" y="4087368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40873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9319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Multilingual text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Packaging in both Arabic AND French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992624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56832" y="5294376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529437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138928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Partial visibility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Box cropped, folded or flipped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02 —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677924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779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Calibri"/>
              </a:rPr>
              <a:t>Study the problem of identifying medicines from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87168"/>
            <a:ext cx="1051560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61061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106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87168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Calibri"/>
              </a:rPr>
              <a:t>Develop a Computer Vision and OCR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19856"/>
            <a:ext cx="1051560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5433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433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19856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Calibri"/>
              </a:rPr>
              <a:t>Handle the Arabic and French text printed on the boxes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52544"/>
            <a:ext cx="1051560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475988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759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52544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Calibri"/>
              </a:rPr>
              <a:t>Match the extracted information against a reference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85232"/>
            <a:ext cx="1051560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5408676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0867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85232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Calibri"/>
              </a:rPr>
              <a:t>Expose the final system through an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03 — 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Methods Studied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Comparing the tools before making our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480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OCR — reading the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Tesseract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Open-source reference, but unreliable for Arabic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PaddleOCR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Powerful but heavy to 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34D399"/>
                </a:solidFill>
                <a:latin typeface="Calibri"/>
              </a:rPr>
              <a:t>EasyOCR  ✓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Native Arabic, simple, accepts images &amp; paths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20640" cy="4480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Identifying the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CNN alone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Confuses visually similar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576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34D399"/>
                </a:solidFill>
                <a:latin typeface="Calibri"/>
              </a:rPr>
              <a:t>OCR + fuzzy matching  ✓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Reads the printed name: reliable and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8463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34D399"/>
                </a:solidFill>
                <a:latin typeface="Calibri"/>
              </a:rPr>
              <a:t>Hybrid approach  ✓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OCR as primary, CNN as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04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Recognition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7 steps, from the image to the bilingual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Photo of the 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78308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94760" y="201168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9260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Visual prediction (MobileNetV2)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8308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Adaptive OpenCV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78308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1160" y="201168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9260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EasyOCR — FR + 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977639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23160" y="4206239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42062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7548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120639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Fuzzy matching (RapidFuzz)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3977639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66360" y="4206239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60" y="42062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7548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120639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MySQL lookup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3977639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09560" y="4206239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42062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7548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120639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Dosage + form (FR / 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05 —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Technical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007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007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TensorFlow / Keras — MobileNetV2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15768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62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Image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OpenCV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15768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862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18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EasyOCR (PyTorch backend, GPU)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77056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23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Fuzzy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799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RapidFuzz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77056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799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38344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1846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412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FastAPI + Uvicorn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038344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1846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5412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HTML / CSS / JavaScript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06 — KEY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Recognition: CNN + OCR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BBF24"/>
                </a:solidFill>
                <a:latin typeface="Calibri"/>
              </a:rPr>
              <a:t>The CNN problem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Trained on few images (~30/class), it confused Ventoline and Augmentin — it only sees the visual appearance.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0020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83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Calibri"/>
              </a:rPr>
              <a:t>Our solution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name is PRINTED on the box → we read it with OCR + RapidFuzz. It is the most reliable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10561320" cy="233172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5020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Hybrid system — the right tool for each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52628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•  OCR = </a:t>
            </a:r>
            <a:r>
              <a:rPr sz="1500" b="0" i="0">
                <a:solidFill>
                  <a:srgbClr val="94A3B8"/>
                </a:solidFill>
                <a:latin typeface="Calibri"/>
              </a:rPr>
              <a:t>primary source of the name (text read on the box)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•  CNN = </a:t>
            </a:r>
            <a:r>
              <a:rPr sz="1500" b="0" i="0">
                <a:solidFill>
                  <a:srgbClr val="94A3B8"/>
                </a:solidFill>
                <a:latin typeface="Calibri"/>
              </a:rPr>
              <a:t>fallback when the text is unreadable + rejects non-medicines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•  RapidFuzz = </a:t>
            </a:r>
            <a:r>
              <a:rPr sz="1500" b="0" i="0">
                <a:solidFill>
                  <a:srgbClr val="94A3B8"/>
                </a:solidFill>
                <a:latin typeface="Calibri"/>
              </a:rPr>
              <a:t>tolerates OCR typos (threshold 82%, or 65% with a 12-point margin)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07 — MULTILINGUAL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Text Reading &amp; Dosage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61320" cy="9784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7335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Two OCR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EasyOCR does not mix Arabic and Latin: two separate readers (FR then AR+EN), then the results are merged.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15768"/>
            <a:ext cx="10561320" cy="9784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Arabic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18688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مجم، ملغ، ملجم → mg   •   ميكروغرام → mcg   •   مل →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77056"/>
            <a:ext cx="10561320" cy="9784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9592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Arabic digits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79976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Two Unicode systems handled: ٠-٩ (Arabic) and ۰-۹ (Persian/Urdu) → 0-9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38344"/>
            <a:ext cx="10561320" cy="9784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15721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Split number +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41264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Smart fallback when OCR separates « 500 » and « mg » on the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08 — OPENCV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Adaptive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Every image is analyzed, then corrected only if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1.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Brightness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(mean)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Contrast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(std. deviation)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177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Sharpness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(Laplacian variance)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5661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2. Correct (only if needed)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468880"/>
            <a:ext cx="67208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596896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Calibri"/>
              </a:rPr>
              <a:t>CLAHE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718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Dark / low-contrast image → local contrast (LAB space)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611880"/>
            <a:ext cx="67208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739896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Calibri"/>
              </a:rPr>
              <a:t>Unsharp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1148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Blurry image → edge enhancement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754880"/>
            <a:ext cx="67208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4882896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Calibri"/>
              </a:rPr>
              <a:t>Bilateral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2578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Noisy image → smoothing without blurring the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09 —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MySQL Reference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22D3EE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medicines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783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22D3EE"/>
                </a:solidFill>
                <a:latin typeface="Calibr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83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22D3E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languages (FR / 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74720"/>
            <a:ext cx="10561320" cy="2606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Calibri"/>
              </a:rPr>
              <a:t>Each variant stores: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51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name — name (French)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188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name_ar — name (Arabic)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8581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dosage — e.g. 1000mg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51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form — form (French)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8188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form_ar — form (Arabic)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8581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usage_fr / usage_ar — indication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10 —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Validation: 3 Honest Verdicts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The system never invents an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2103120"/>
            <a:ext cx="731520" cy="7315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34D399"/>
                </a:solidFill>
                <a:latin typeface="Calibri"/>
              </a:rPr>
              <a:t>RECOGNIZED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The name is read and matches the database — dosage and form identified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BBF24"/>
                </a:solidFill>
                <a:latin typeface="Calibri"/>
              </a:rPr>
              <a:t>UNRECOGNIZED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6576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Text read clearly, but no known medicine matches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2103120"/>
            <a:ext cx="731520" cy="7315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87171"/>
                </a:solidFill>
                <a:latin typeface="Calibri"/>
              </a:rPr>
              <a:t>REJECTED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576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Not a medicine (e.g. animal, object) or unreadable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2D3EE"/>
                </a:solidFill>
                <a:latin typeface="Calibri"/>
              </a:rPr>
              <a:t>Safety: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an “exact” variant is announced only if the dosage was actually read on the box — never inferred.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11 —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REST API &amp; Web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4389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REST API —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34D399"/>
                </a:solidFill>
                <a:latin typeface="Consolas"/>
              </a:rPr>
              <a:t>POST /recognize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Send an image → receive a complete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55848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34D399"/>
                </a:solidFill>
                <a:latin typeface="Consolas"/>
              </a:rPr>
              <a:t>GET /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Service health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42816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34D399"/>
                </a:solidFill>
                <a:latin typeface="Consolas"/>
              </a:rPr>
              <a:t>Documentation /docs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Interactive Swagger UI, auto-generated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9784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34D399"/>
                </a:solidFill>
                <a:latin typeface="Consolas"/>
              </a:rPr>
              <a:t>CORS enabled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Usable by any external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20640" cy="4389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Web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Drag-and-drop a 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7296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Clear result card (FR + 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313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Colored status badge (recognized / rejected…)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48970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Confidence 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14807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Collapsible technical details (OCR, OpenCV)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12 —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An image dataset was built to train the CNN, organized into folders by class (one folder = one class).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5 medicine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Augmentin, Brufen, Doliprane, Smecta, Ventoline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5176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“other”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7355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Non-medicine images, to learn to reject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~30 images /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7365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Small dataset → reason for the OCR-primary choice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1480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Calibri"/>
              </a:rPr>
              <a:t>224×224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365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Format expected by MobileNetV2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13 — EXPERIMENTAL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  <a:latin typeface="Calibri"/>
              </a:rPr>
              <a:t>20 fresh images: medicines, blurry, Arabic, random objects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265176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34D399"/>
                </a:solidFill>
                <a:latin typeface="Calibri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known medicines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correctly named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11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65176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22D3EE"/>
                </a:solidFill>
                <a:latin typeface="Calibri"/>
              </a:rP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063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no false identity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ever shown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977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17 /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291840" cy="2651760"/>
          </a:xfrm>
          <a:prstGeom prst="roundRect">
            <a:avLst>
              <a:gd name="adj" fmla="val 8000"/>
            </a:avLst>
          </a:prstGeom>
          <a:solidFill>
            <a:srgbClr val="243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34D399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63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non-medicines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correctly rejected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77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2 /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56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D3EE"/>
                </a:solidFill>
                <a:latin typeface="Calibri"/>
              </a:rPr>
              <a:t>Highlights: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Arabic boxes recognized at 100% • blurry Smecta → exact match • sideways Doliprane recognized at 94%.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13 — EXPERIMENTAL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Limitations &amp; Failure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6132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96596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71907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BBF24"/>
                </a:solidFill>
                <a:latin typeface="Calibri"/>
              </a:rPr>
              <a:t>Codoliprane → Doliprane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0312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Names 90% similar. Fix: add Codoliprane to the database. Illustrates the importance of a complete reference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1056132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42900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8211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BBF24"/>
                </a:solidFill>
                <a:latin typeface="Calibri"/>
              </a:rPr>
              <a:t>Flipped box → rejected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56616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OCR cannot read upside-down text. Safe behavior: reject rather than guess.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80560"/>
            <a:ext cx="1056132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89204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64515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BBF24"/>
                </a:solidFill>
                <a:latin typeface="Calibri"/>
              </a:rPr>
              <a:t>“Medicine vs non-medicine”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2920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The candy box shows “99g” (net weight) — it looks more like a medicine than a poorly-photographed real box. Hard to tell apart from text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14 —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4297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What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Complete CV + OCR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358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Arabic &amp; French text handled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0273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Matching against a MySQL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966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REST API + web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365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Robust to blur and rotation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Honest 3-level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120640" cy="4297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Perspectives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Expand the medicine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12724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Grow the CNN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8561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Orientation correction (rotation)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44398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Text-region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1023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Deploy the API 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4114800" cy="41148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463040"/>
            <a:ext cx="4114800" cy="41148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822960"/>
            <a:ext cx="2377440" cy="23774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 for your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22D3E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Hajar El Haj  &amp;  Ikram Belmalhouz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